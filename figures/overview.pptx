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76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B189"/>
    <a:srgbClr val="29C195"/>
    <a:srgbClr val="0074E0"/>
    <a:srgbClr val="F04136"/>
    <a:srgbClr val="D8D8D8"/>
    <a:srgbClr val="7F7F7F"/>
    <a:srgbClr val="D9D9D9"/>
    <a:srgbClr val="E2E2E4"/>
    <a:srgbClr val="A5A5A5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89412" autoAdjust="0"/>
  </p:normalViewPr>
  <p:slideViewPr>
    <p:cSldViewPr snapToGrid="0">
      <p:cViewPr varScale="1">
        <p:scale>
          <a:sx n="65" d="100"/>
          <a:sy n="65" d="100"/>
        </p:scale>
        <p:origin x="13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FB6EF-0AA9-4E4B-9EE7-3EDB21F7AD04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F7C10-DCF0-44C9-870E-5897CF958D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4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28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11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52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1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5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57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78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57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2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3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83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A6729-EC7C-4452-8BB4-F3D669E368CD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3BF58-E68E-4162-B777-19A9D25CCC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74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020" rtl="0" eaLnBrk="1" latinLnBrk="1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1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1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1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microsoft.com/office/2007/relationships/hdphoto" Target="../media/hdphoto1.wdp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D1DF66DE-2218-479C-A5E1-8043ED8770DD}"/>
              </a:ext>
            </a:extLst>
          </p:cNvPr>
          <p:cNvCxnSpPr>
            <a:cxnSpLocks/>
          </p:cNvCxnSpPr>
          <p:nvPr/>
        </p:nvCxnSpPr>
        <p:spPr>
          <a:xfrm>
            <a:off x="3722108" y="3446992"/>
            <a:ext cx="0" cy="302889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>
            <a:extLst>
              <a:ext uri="{FF2B5EF4-FFF2-40B4-BE49-F238E27FC236}">
                <a16:creationId xmlns:a16="http://schemas.microsoft.com/office/drawing/2014/main" id="{E30DD28C-D10F-4C2E-B99C-3BEAF77D19C3}"/>
              </a:ext>
            </a:extLst>
          </p:cNvPr>
          <p:cNvCxnSpPr>
            <a:cxnSpLocks/>
            <a:endCxn id="223" idx="0"/>
          </p:cNvCxnSpPr>
          <p:nvPr/>
        </p:nvCxnSpPr>
        <p:spPr>
          <a:xfrm>
            <a:off x="11582590" y="3450676"/>
            <a:ext cx="0" cy="325728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4EAA30C8-2BF3-4350-894C-45A4F01632B5}"/>
              </a:ext>
            </a:extLst>
          </p:cNvPr>
          <p:cNvSpPr/>
          <p:nvPr/>
        </p:nvSpPr>
        <p:spPr>
          <a:xfrm>
            <a:off x="11276686" y="3626328"/>
            <a:ext cx="3250559" cy="1539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98433F0A-AAAF-4EB9-9CF2-905BA40C5497}"/>
              </a:ext>
            </a:extLst>
          </p:cNvPr>
          <p:cNvSpPr/>
          <p:nvPr/>
        </p:nvSpPr>
        <p:spPr>
          <a:xfrm>
            <a:off x="3270322" y="3628701"/>
            <a:ext cx="2016000" cy="1229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D6FB7E6-1D3F-4554-A102-19BDDA5F17C6}"/>
              </a:ext>
            </a:extLst>
          </p:cNvPr>
          <p:cNvCxnSpPr>
            <a:cxnSpLocks/>
          </p:cNvCxnSpPr>
          <p:nvPr/>
        </p:nvCxnSpPr>
        <p:spPr>
          <a:xfrm>
            <a:off x="2779313" y="3004673"/>
            <a:ext cx="0" cy="4460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0EF0E48-81B8-486B-9A5E-179ACF33896D}"/>
              </a:ext>
            </a:extLst>
          </p:cNvPr>
          <p:cNvCxnSpPr>
            <a:cxnSpLocks/>
          </p:cNvCxnSpPr>
          <p:nvPr/>
        </p:nvCxnSpPr>
        <p:spPr>
          <a:xfrm>
            <a:off x="6901135" y="3004673"/>
            <a:ext cx="0" cy="4439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60412D6-2757-4707-981E-825600B126AD}"/>
              </a:ext>
            </a:extLst>
          </p:cNvPr>
          <p:cNvCxnSpPr>
            <a:cxnSpLocks/>
          </p:cNvCxnSpPr>
          <p:nvPr/>
        </p:nvCxnSpPr>
        <p:spPr>
          <a:xfrm>
            <a:off x="12612194" y="3007197"/>
            <a:ext cx="0" cy="44141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A60C829-79B8-4FAD-9750-58BD447498F8}"/>
              </a:ext>
            </a:extLst>
          </p:cNvPr>
          <p:cNvCxnSpPr>
            <a:cxnSpLocks/>
          </p:cNvCxnSpPr>
          <p:nvPr/>
        </p:nvCxnSpPr>
        <p:spPr>
          <a:xfrm>
            <a:off x="2779313" y="3452368"/>
            <a:ext cx="109127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AE614F0B-E62D-4276-9F23-F5F32538575E}"/>
              </a:ext>
            </a:extLst>
          </p:cNvPr>
          <p:cNvSpPr/>
          <p:nvPr/>
        </p:nvSpPr>
        <p:spPr>
          <a:xfrm>
            <a:off x="2635313" y="2716673"/>
            <a:ext cx="288000" cy="2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C153A852-6D5C-4C6B-8030-450C40422DA4}"/>
              </a:ext>
            </a:extLst>
          </p:cNvPr>
          <p:cNvSpPr/>
          <p:nvPr/>
        </p:nvSpPr>
        <p:spPr>
          <a:xfrm>
            <a:off x="13692038" y="3308368"/>
            <a:ext cx="288000" cy="2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94BD777-A162-4084-9542-85145E1696AF}"/>
              </a:ext>
            </a:extLst>
          </p:cNvPr>
          <p:cNvSpPr txBox="1"/>
          <p:nvPr/>
        </p:nvSpPr>
        <p:spPr>
          <a:xfrm>
            <a:off x="14022037" y="3352341"/>
            <a:ext cx="540000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prstClr val="black"/>
                </a:solidFill>
                <a:latin typeface="프리젠테이션 7 Bold" pitchFamily="2" charset="-127"/>
                <a:ea typeface="프리젠테이션 7 Bold" pitchFamily="2" charset="-127"/>
              </a:rPr>
              <a:t>ROBOT</a:t>
            </a:r>
            <a:endParaRPr lang="ko-KR" altLang="en-US" sz="1300" dirty="0">
              <a:solidFill>
                <a:prstClr val="black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A9D8367-402C-41D0-81CE-69253636343C}"/>
              </a:ext>
            </a:extLst>
          </p:cNvPr>
          <p:cNvSpPr txBox="1"/>
          <p:nvPr/>
        </p:nvSpPr>
        <p:spPr>
          <a:xfrm>
            <a:off x="5454370" y="3637413"/>
            <a:ext cx="1476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srgbClr val="0074E0"/>
                </a:solidFill>
                <a:latin typeface="프리젠테이션 7 Bold" pitchFamily="2" charset="-127"/>
                <a:ea typeface="프리젠테이션 7 Bold" pitchFamily="2" charset="-127"/>
              </a:rPr>
              <a:t>Flow Orchestrator</a:t>
            </a:r>
            <a:endParaRPr lang="ko-KR" altLang="en-US" sz="1300" dirty="0">
              <a:solidFill>
                <a:srgbClr val="0074E0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E2C9CE3-8DD3-4575-AB09-6A4FFD1959A5}"/>
              </a:ext>
            </a:extLst>
          </p:cNvPr>
          <p:cNvSpPr/>
          <p:nvPr/>
        </p:nvSpPr>
        <p:spPr>
          <a:xfrm>
            <a:off x="5137811" y="3637413"/>
            <a:ext cx="288000" cy="28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B99E680-7979-4514-AD4F-B8CC3D2D3620}"/>
              </a:ext>
            </a:extLst>
          </p:cNvPr>
          <p:cNvSpPr txBox="1"/>
          <p:nvPr/>
        </p:nvSpPr>
        <p:spPr>
          <a:xfrm>
            <a:off x="5454370" y="3860396"/>
            <a:ext cx="2736000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50392B5D-EB57-4A08-B0AC-3AE8CD11DEE6}"/>
              </a:ext>
            </a:extLst>
          </p:cNvPr>
          <p:cNvSpPr txBox="1"/>
          <p:nvPr/>
        </p:nvSpPr>
        <p:spPr>
          <a:xfrm>
            <a:off x="5454370" y="3860396"/>
            <a:ext cx="2736000" cy="650244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Since no coffee is available, should we make some with the coffee machine?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FE6AB72-D8AC-4DED-B2D3-764833504FB0}"/>
              </a:ext>
            </a:extLst>
          </p:cNvPr>
          <p:cNvSpPr txBox="1"/>
          <p:nvPr/>
        </p:nvSpPr>
        <p:spPr>
          <a:xfrm>
            <a:off x="5557393" y="4327027"/>
            <a:ext cx="576000" cy="179415"/>
          </a:xfrm>
          <a:prstGeom prst="roundRect">
            <a:avLst>
              <a:gd name="adj" fmla="val 25487"/>
            </a:avLst>
          </a:prstGeom>
          <a:solidFill>
            <a:srgbClr val="EBF5F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487C1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@ USER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487C1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CA9D1FC-9F11-48EA-8FF6-003E598431D9}"/>
              </a:ext>
            </a:extLst>
          </p:cNvPr>
          <p:cNvSpPr txBox="1"/>
          <p:nvPr/>
        </p:nvSpPr>
        <p:spPr>
          <a:xfrm>
            <a:off x="8584327" y="3637413"/>
            <a:ext cx="1476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srgbClr val="0074E0"/>
                </a:solidFill>
                <a:latin typeface="프리젠테이션 7 Bold" pitchFamily="2" charset="-127"/>
                <a:ea typeface="프리젠테이션 7 Bold" pitchFamily="2" charset="-127"/>
              </a:rPr>
              <a:t>Flow Orchestrator</a:t>
            </a:r>
            <a:endParaRPr lang="ko-KR" altLang="en-US" sz="1300" dirty="0">
              <a:solidFill>
                <a:srgbClr val="0074E0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5529D6A7-B061-4A3B-B3BF-93240CC154F3}"/>
              </a:ext>
            </a:extLst>
          </p:cNvPr>
          <p:cNvSpPr/>
          <p:nvPr/>
        </p:nvSpPr>
        <p:spPr>
          <a:xfrm>
            <a:off x="8267768" y="3637413"/>
            <a:ext cx="288000" cy="28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7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98273E3-90A9-4654-8F04-AAB3A96CD543}"/>
              </a:ext>
            </a:extLst>
          </p:cNvPr>
          <p:cNvSpPr txBox="1"/>
          <p:nvPr/>
        </p:nvSpPr>
        <p:spPr>
          <a:xfrm>
            <a:off x="8584327" y="4119476"/>
            <a:ext cx="2412000" cy="50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321D6A1-B886-4C61-9F8F-8F6A3953D1CA}"/>
              </a:ext>
            </a:extLst>
          </p:cNvPr>
          <p:cNvSpPr txBox="1"/>
          <p:nvPr/>
        </p:nvSpPr>
        <p:spPr>
          <a:xfrm>
            <a:off x="8584327" y="4119476"/>
            <a:ext cx="2412000" cy="283115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Great, let’s proceed with planning.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E2E1DA8-1796-4948-A9DD-2A24B9E66582}"/>
              </a:ext>
            </a:extLst>
          </p:cNvPr>
          <p:cNvSpPr txBox="1"/>
          <p:nvPr/>
        </p:nvSpPr>
        <p:spPr>
          <a:xfrm>
            <a:off x="8692578" y="4403111"/>
            <a:ext cx="1296000" cy="179415"/>
          </a:xfrm>
          <a:prstGeom prst="roundRect">
            <a:avLst>
              <a:gd name="adj" fmla="val 25487"/>
            </a:avLst>
          </a:prstGeom>
          <a:solidFill>
            <a:srgbClr val="EBF5F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487C1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@ Task Formalizer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487C1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61B0075-5F82-4E25-823D-2211067183B7}"/>
              </a:ext>
            </a:extLst>
          </p:cNvPr>
          <p:cNvSpPr txBox="1"/>
          <p:nvPr/>
        </p:nvSpPr>
        <p:spPr>
          <a:xfrm>
            <a:off x="8584326" y="3857811"/>
            <a:ext cx="1620000" cy="216000"/>
          </a:xfrm>
          <a:prstGeom prst="roundRect">
            <a:avLst>
              <a:gd name="adj" fmla="val 24182"/>
            </a:avLst>
          </a:prstGeom>
          <a:solidFill>
            <a:srgbClr val="FFF9E5"/>
          </a:solidFill>
          <a:ln>
            <a:noFill/>
          </a:ln>
        </p:spPr>
        <p:txBody>
          <a:bodyPr wrap="square" lIns="21600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routing reason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0737D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(edited)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70737D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528CB24F-31D1-400E-9C31-FC6918986074}"/>
              </a:ext>
            </a:extLst>
          </p:cNvPr>
          <p:cNvSpPr txBox="1"/>
          <p:nvPr/>
        </p:nvSpPr>
        <p:spPr>
          <a:xfrm>
            <a:off x="11755149" y="6707956"/>
            <a:ext cx="1440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srgbClr val="FFA500"/>
                </a:solidFill>
                <a:latin typeface="프리젠테이션 7 Bold" pitchFamily="2" charset="-127"/>
                <a:ea typeface="프리젠테이션 7 Bold" pitchFamily="2" charset="-127"/>
              </a:rPr>
              <a:t>Planning Manager</a:t>
            </a:r>
            <a:endParaRPr lang="ko-KR" altLang="en-US" sz="1300" dirty="0">
              <a:solidFill>
                <a:srgbClr val="FFA500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6A906CE2-D826-4A88-9E64-06869E868D46}"/>
              </a:ext>
            </a:extLst>
          </p:cNvPr>
          <p:cNvSpPr/>
          <p:nvPr/>
        </p:nvSpPr>
        <p:spPr>
          <a:xfrm>
            <a:off x="11438590" y="6707956"/>
            <a:ext cx="288000" cy="28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A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B17DF77-D9A0-46A0-A495-ACE813516A7C}"/>
              </a:ext>
            </a:extLst>
          </p:cNvPr>
          <p:cNvSpPr txBox="1"/>
          <p:nvPr/>
        </p:nvSpPr>
        <p:spPr>
          <a:xfrm>
            <a:off x="11755149" y="7197639"/>
            <a:ext cx="2088000" cy="32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43F82CA-0E2F-4D5F-B141-477D9B1A48C8}"/>
              </a:ext>
            </a:extLst>
          </p:cNvPr>
          <p:cNvSpPr txBox="1"/>
          <p:nvPr/>
        </p:nvSpPr>
        <p:spPr>
          <a:xfrm>
            <a:off x="11755149" y="7197639"/>
            <a:ext cx="2088000" cy="3005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Plan generated successfully!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CF1E0DBC-FF48-43E6-B0DA-7E39DF0BD1ED}"/>
              </a:ext>
            </a:extLst>
          </p:cNvPr>
          <p:cNvSpPr txBox="1"/>
          <p:nvPr/>
        </p:nvSpPr>
        <p:spPr>
          <a:xfrm>
            <a:off x="2954438" y="2713027"/>
            <a:ext cx="468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latin typeface="프리젠테이션 7 Bold" pitchFamily="2" charset="-127"/>
                <a:ea typeface="프리젠테이션 7 Bold" pitchFamily="2" charset="-127"/>
              </a:rPr>
              <a:t>USER</a:t>
            </a:r>
            <a:endParaRPr lang="ko-KR" altLang="en-US" sz="13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32DFE3F8-D82D-46EA-9AFF-A59D7233C0CB}"/>
              </a:ext>
            </a:extLst>
          </p:cNvPr>
          <p:cNvSpPr txBox="1"/>
          <p:nvPr/>
        </p:nvSpPr>
        <p:spPr>
          <a:xfrm>
            <a:off x="2954438" y="2936010"/>
            <a:ext cx="2304000" cy="32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377A886-09A1-4CBF-803A-83751F6DDCC2}"/>
              </a:ext>
            </a:extLst>
          </p:cNvPr>
          <p:cNvSpPr txBox="1"/>
          <p:nvPr/>
        </p:nvSpPr>
        <p:spPr>
          <a:xfrm>
            <a:off x="2954438" y="2936010"/>
            <a:ext cx="230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Put the coffee in the living room.</a:t>
            </a:r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04F5884C-4813-4D9E-B8EA-0508882AF627}"/>
              </a:ext>
            </a:extLst>
          </p:cNvPr>
          <p:cNvSpPr/>
          <p:nvPr/>
        </p:nvSpPr>
        <p:spPr>
          <a:xfrm>
            <a:off x="6757135" y="2716673"/>
            <a:ext cx="288000" cy="2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A7ECE96-C034-4D38-85CD-7251C467A380}"/>
              </a:ext>
            </a:extLst>
          </p:cNvPr>
          <p:cNvSpPr txBox="1"/>
          <p:nvPr/>
        </p:nvSpPr>
        <p:spPr>
          <a:xfrm>
            <a:off x="7076260" y="2713027"/>
            <a:ext cx="468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latin typeface="프리젠테이션 7 Bold" pitchFamily="2" charset="-127"/>
                <a:ea typeface="프리젠테이션 7 Bold" pitchFamily="2" charset="-127"/>
              </a:rPr>
              <a:t>USER</a:t>
            </a:r>
            <a:endParaRPr lang="ko-KR" altLang="en-US" sz="13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82B5C10-994C-46B5-998B-F9F1AB7FDD84}"/>
              </a:ext>
            </a:extLst>
          </p:cNvPr>
          <p:cNvSpPr txBox="1"/>
          <p:nvPr/>
        </p:nvSpPr>
        <p:spPr>
          <a:xfrm>
            <a:off x="7076260" y="2936010"/>
            <a:ext cx="1224000" cy="32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4D474B7-BEB2-4687-9D32-EAB76B648396}"/>
              </a:ext>
            </a:extLst>
          </p:cNvPr>
          <p:cNvSpPr txBox="1"/>
          <p:nvPr/>
        </p:nvSpPr>
        <p:spPr>
          <a:xfrm>
            <a:off x="7076260" y="2936010"/>
            <a:ext cx="1224000" cy="294010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Yes, please do.</a:t>
            </a:r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344CA437-4062-40F8-8E71-52EDF4C18E1C}"/>
              </a:ext>
            </a:extLst>
          </p:cNvPr>
          <p:cNvSpPr/>
          <p:nvPr/>
        </p:nvSpPr>
        <p:spPr>
          <a:xfrm>
            <a:off x="12468194" y="2719197"/>
            <a:ext cx="288000" cy="2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B6B6B153-7CB7-4D78-BF66-4F1C24351ADF}"/>
              </a:ext>
            </a:extLst>
          </p:cNvPr>
          <p:cNvSpPr txBox="1"/>
          <p:nvPr/>
        </p:nvSpPr>
        <p:spPr>
          <a:xfrm>
            <a:off x="12787319" y="2715551"/>
            <a:ext cx="468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latin typeface="프리젠테이션 7 Bold" pitchFamily="2" charset="-127"/>
                <a:ea typeface="프리젠테이션 7 Bold" pitchFamily="2" charset="-127"/>
              </a:rPr>
              <a:t>USER</a:t>
            </a:r>
            <a:endParaRPr lang="ko-KR" altLang="en-US" sz="13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6E55CE93-174E-4353-91AD-7A299AE43066}"/>
              </a:ext>
            </a:extLst>
          </p:cNvPr>
          <p:cNvSpPr txBox="1"/>
          <p:nvPr/>
        </p:nvSpPr>
        <p:spPr>
          <a:xfrm>
            <a:off x="12790669" y="2957380"/>
            <a:ext cx="972000" cy="272640"/>
          </a:xfrm>
          <a:prstGeom prst="roundRect">
            <a:avLst/>
          </a:prstGeom>
          <a:solidFill>
            <a:srgbClr val="EBF5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6814D56-F739-46BB-9A4B-162366903313}"/>
              </a:ext>
            </a:extLst>
          </p:cNvPr>
          <p:cNvSpPr txBox="1"/>
          <p:nvPr/>
        </p:nvSpPr>
        <p:spPr>
          <a:xfrm>
            <a:off x="12790669" y="2998629"/>
            <a:ext cx="972000" cy="190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  Approve Plan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BA8CC66F-CDDA-45AD-909F-69BEAE3A78E1}"/>
              </a:ext>
            </a:extLst>
          </p:cNvPr>
          <p:cNvSpPr txBox="1"/>
          <p:nvPr/>
        </p:nvSpPr>
        <p:spPr>
          <a:xfrm>
            <a:off x="8130675" y="4756248"/>
            <a:ext cx="936000" cy="20005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lang="en-US" altLang="ko-KR" sz="1300" dirty="0">
                <a:solidFill>
                  <a:srgbClr val="091421"/>
                </a:solidFill>
                <a:latin typeface="프리젠테이션 7 Bold" pitchFamily="2" charset="-127"/>
                <a:ea typeface="프리젠테이션 7 Bold" pitchFamily="2" charset="-127"/>
              </a:rPr>
              <a:t>World Model</a:t>
            </a:r>
            <a:endParaRPr lang="ko-KR" altLang="en-US" sz="1300" dirty="0">
              <a:solidFill>
                <a:srgbClr val="09142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53" name="사다리꼴 252">
            <a:extLst>
              <a:ext uri="{FF2B5EF4-FFF2-40B4-BE49-F238E27FC236}">
                <a16:creationId xmlns:a16="http://schemas.microsoft.com/office/drawing/2014/main" id="{6C1859D2-5417-4D8F-B2E9-E907AA046841}"/>
              </a:ext>
            </a:extLst>
          </p:cNvPr>
          <p:cNvSpPr/>
          <p:nvPr/>
        </p:nvSpPr>
        <p:spPr>
          <a:xfrm>
            <a:off x="7183787" y="5593035"/>
            <a:ext cx="2829777" cy="1301249"/>
          </a:xfrm>
          <a:prstGeom prst="trapezoid">
            <a:avLst>
              <a:gd name="adj" fmla="val 88167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4" name="그림 253">
            <a:extLst>
              <a:ext uri="{FF2B5EF4-FFF2-40B4-BE49-F238E27FC236}">
                <a16:creationId xmlns:a16="http://schemas.microsoft.com/office/drawing/2014/main" id="{26625280-F20C-4018-B94F-9B769E60CA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70" b="94630" l="6778" r="89990">
                        <a14:foregroundMark x1="20594" y1="8333" x2="20594" y2="8333"/>
                        <a14:foregroundMark x1="6830" y1="57130" x2="6830" y2="57130"/>
                        <a14:foregroundMark x1="56882" y1="94722" x2="56882" y2="94722"/>
                        <a14:foregroundMark x1="77477" y1="80463" x2="77477" y2="80463"/>
                        <a14:foregroundMark x1="71898" y1="83796" x2="71898" y2="83796"/>
                        <a14:foregroundMark x1="19239" y1="41481" x2="19239" y2="41481"/>
                        <a14:foregroundMark x1="17987" y1="44074" x2="17987" y2="44074"/>
                        <a14:foregroundMark x1="17779" y1="43426" x2="17779" y2="43426"/>
                        <a14:foregroundMark x1="20125" y1="7963" x2="20125" y2="7963"/>
                        <a14:foregroundMark x1="21794" y1="7870" x2="21794" y2="7870"/>
                        <a14:foregroundMark x1="20803" y1="7778" x2="20803" y2="7778"/>
                        <a14:foregroundMark x1="46298" y1="7407" x2="46298" y2="7407"/>
                        <a14:foregroundMark x1="28989" y1="5648" x2="28989" y2="5648"/>
                        <a14:foregroundMark x1="34150" y1="5370" x2="34150" y2="5370"/>
                        <a14:foregroundMark x1="59906" y1="78889" x2="59906" y2="78889"/>
                        <a14:foregroundMark x1="59958" y1="77778" x2="59958" y2="77778"/>
                      </a14:backgroundRemoval>
                    </a14:imgEffect>
                  </a14:imgLayer>
                </a14:imgProps>
              </a:ext>
            </a:extLst>
          </a:blip>
          <a:srcRect l="5375" t="3000" r="14485" b="4548"/>
          <a:stretch/>
        </p:blipFill>
        <p:spPr>
          <a:xfrm>
            <a:off x="7068675" y="5722012"/>
            <a:ext cx="3060000" cy="1987768"/>
          </a:xfrm>
          <a:prstGeom prst="rect">
            <a:avLst/>
          </a:prstGeom>
        </p:spPr>
      </p:pic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380045D0-126C-439B-99C2-B0276F7DC5FE}"/>
              </a:ext>
            </a:extLst>
          </p:cNvPr>
          <p:cNvCxnSpPr>
            <a:cxnSpLocks/>
          </p:cNvCxnSpPr>
          <p:nvPr/>
        </p:nvCxnSpPr>
        <p:spPr>
          <a:xfrm>
            <a:off x="3097763" y="3450676"/>
            <a:ext cx="0" cy="1867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타원 150">
            <a:extLst>
              <a:ext uri="{FF2B5EF4-FFF2-40B4-BE49-F238E27FC236}">
                <a16:creationId xmlns:a16="http://schemas.microsoft.com/office/drawing/2014/main" id="{76CDEE69-32FC-4FEB-BC06-247908E956B9}"/>
              </a:ext>
            </a:extLst>
          </p:cNvPr>
          <p:cNvSpPr/>
          <p:nvPr/>
        </p:nvSpPr>
        <p:spPr>
          <a:xfrm>
            <a:off x="2953763" y="3637413"/>
            <a:ext cx="288000" cy="28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74E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A0E998B-62F5-45AC-A334-69BCD474A581}"/>
              </a:ext>
            </a:extLst>
          </p:cNvPr>
          <p:cNvSpPr txBox="1"/>
          <p:nvPr/>
        </p:nvSpPr>
        <p:spPr>
          <a:xfrm>
            <a:off x="3270322" y="4119476"/>
            <a:ext cx="2016000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0273648-AABB-4F81-8E10-79E27CE4075A}"/>
              </a:ext>
            </a:extLst>
          </p:cNvPr>
          <p:cNvSpPr txBox="1"/>
          <p:nvPr/>
        </p:nvSpPr>
        <p:spPr>
          <a:xfrm>
            <a:off x="3270322" y="4119476"/>
            <a:ext cx="2016000" cy="650244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First, we need to find the objects needed for the task.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B8B46BA-8808-49DE-AB5F-815978445B76}"/>
              </a:ext>
            </a:extLst>
          </p:cNvPr>
          <p:cNvSpPr txBox="1"/>
          <p:nvPr/>
        </p:nvSpPr>
        <p:spPr>
          <a:xfrm>
            <a:off x="3359118" y="4584909"/>
            <a:ext cx="1224000" cy="179415"/>
          </a:xfrm>
          <a:prstGeom prst="roundRect">
            <a:avLst>
              <a:gd name="adj" fmla="val 25487"/>
            </a:avLst>
          </a:prstGeom>
          <a:solidFill>
            <a:srgbClr val="EBF5F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487C1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@ </a:t>
            </a:r>
            <a:r>
              <a:rPr lang="en-US" altLang="ko-KR" sz="1200" kern="0" dirty="0">
                <a:solidFill>
                  <a:srgbClr val="2487C1"/>
                </a:solidFill>
                <a:latin typeface="프리젠테이션 6 SemiBold" pitchFamily="2" charset="-127"/>
                <a:ea typeface="프리젠테이션 6 SemiBold" pitchFamily="2" charset="-127"/>
              </a:rPr>
              <a:t>Scene Explorer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487C1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ED79FE4-CAF4-482F-990A-8DEE44FF34B0}"/>
              </a:ext>
            </a:extLst>
          </p:cNvPr>
          <p:cNvSpPr txBox="1"/>
          <p:nvPr/>
        </p:nvSpPr>
        <p:spPr>
          <a:xfrm>
            <a:off x="3270322" y="3857811"/>
            <a:ext cx="1620000" cy="216000"/>
          </a:xfrm>
          <a:prstGeom prst="roundRect">
            <a:avLst>
              <a:gd name="adj" fmla="val 24182"/>
            </a:avLst>
          </a:prstGeom>
          <a:solidFill>
            <a:srgbClr val="FFF9E5"/>
          </a:solidFill>
          <a:ln>
            <a:noFill/>
          </a:ln>
          <a:effectLst/>
        </p:spPr>
        <p:txBody>
          <a:bodyPr wrap="square" lIns="21600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routing reason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0737D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(edited)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70737D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1B0D277-D0A3-4C5D-8976-413436AAE067}"/>
              </a:ext>
            </a:extLst>
          </p:cNvPr>
          <p:cNvSpPr txBox="1"/>
          <p:nvPr/>
        </p:nvSpPr>
        <p:spPr>
          <a:xfrm>
            <a:off x="3270322" y="3637413"/>
            <a:ext cx="1476000" cy="218231"/>
          </a:xfrm>
          <a:prstGeom prst="rect">
            <a:avLst/>
          </a:prstGeom>
          <a:noFill/>
          <a:effectLst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srgbClr val="0074E0"/>
                </a:solidFill>
                <a:latin typeface="프리젠테이션 7 Bold" pitchFamily="2" charset="-127"/>
                <a:ea typeface="프리젠테이션 7 Bold" pitchFamily="2" charset="-127"/>
              </a:rPr>
              <a:t>Flow Orchestrator</a:t>
            </a:r>
            <a:endParaRPr lang="ko-KR" altLang="en-US" sz="1300" dirty="0">
              <a:solidFill>
                <a:srgbClr val="0074E0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4D53123-74C6-4FD8-93D9-9EF9ACE59E8D}"/>
              </a:ext>
            </a:extLst>
          </p:cNvPr>
          <p:cNvSpPr txBox="1"/>
          <p:nvPr/>
        </p:nvSpPr>
        <p:spPr>
          <a:xfrm>
            <a:off x="3894667" y="5047230"/>
            <a:ext cx="1440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srgbClr val="25B189"/>
                </a:solidFill>
                <a:latin typeface="프리젠테이션 7 Bold" pitchFamily="2" charset="-127"/>
                <a:ea typeface="프리젠테이션 7 Bold" pitchFamily="2" charset="-127"/>
              </a:rPr>
              <a:t>Scene Explorer</a:t>
            </a:r>
            <a:endParaRPr lang="ko-KR" altLang="en-US" sz="1300" dirty="0">
              <a:solidFill>
                <a:srgbClr val="25B189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351048C1-5ADF-4379-AB6E-CA3D1D82B2AE}"/>
              </a:ext>
            </a:extLst>
          </p:cNvPr>
          <p:cNvSpPr/>
          <p:nvPr/>
        </p:nvSpPr>
        <p:spPr>
          <a:xfrm>
            <a:off x="3578108" y="5047230"/>
            <a:ext cx="288000" cy="28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F39CD36-0F60-4CD7-9705-41FE29B9992D}"/>
              </a:ext>
            </a:extLst>
          </p:cNvPr>
          <p:cNvSpPr txBox="1"/>
          <p:nvPr/>
        </p:nvSpPr>
        <p:spPr>
          <a:xfrm>
            <a:off x="3894667" y="5270213"/>
            <a:ext cx="1872000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D8FC6BC-8865-4201-AB50-5C74B88E2CC0}"/>
              </a:ext>
            </a:extLst>
          </p:cNvPr>
          <p:cNvSpPr txBox="1"/>
          <p:nvPr/>
        </p:nvSpPr>
        <p:spPr>
          <a:xfrm>
            <a:off x="3894667" y="5270213"/>
            <a:ext cx="1872000" cy="650244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I’ll check the scene using the 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Scene Query tool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39A2FD3-F71F-44C8-93D8-FDB5C188B4C7}"/>
              </a:ext>
            </a:extLst>
          </p:cNvPr>
          <p:cNvSpPr txBox="1"/>
          <p:nvPr/>
        </p:nvSpPr>
        <p:spPr>
          <a:xfrm>
            <a:off x="4015618" y="5735547"/>
            <a:ext cx="936000" cy="180000"/>
          </a:xfrm>
          <a:prstGeom prst="roundRect">
            <a:avLst>
              <a:gd name="adj" fmla="val 28574"/>
            </a:avLst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-15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/</a:t>
            </a:r>
            <a:r>
              <a:rPr lang="en-US" altLang="ko-KR" sz="1200" kern="0" spc="-15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scene_query</a:t>
            </a:r>
            <a:endParaRPr lang="en-US" altLang="ko-KR" sz="1200" kern="0" spc="-150" dirty="0">
              <a:solidFill>
                <a:srgbClr val="404756"/>
              </a:solidFill>
              <a:latin typeface="Cascadia Code SemiLight" panose="020B0609020000020004" pitchFamily="49" charset="0"/>
              <a:ea typeface="프리젠테이션 5 Medium" pitchFamily="2" charset="-127"/>
              <a:cs typeface="Cascadia Code SemiLight" panose="020B0609020000020004" pitchFamily="49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E110C14-2715-426A-A775-46D30E5A750C}"/>
              </a:ext>
            </a:extLst>
          </p:cNvPr>
          <p:cNvSpPr txBox="1"/>
          <p:nvPr/>
        </p:nvSpPr>
        <p:spPr>
          <a:xfrm>
            <a:off x="3894667" y="6475887"/>
            <a:ext cx="1440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srgbClr val="25B189"/>
                </a:solidFill>
                <a:latin typeface="프리젠테이션 7 Bold" pitchFamily="2" charset="-127"/>
                <a:ea typeface="프리젠테이션 7 Bold" pitchFamily="2" charset="-127"/>
              </a:rPr>
              <a:t>Scene Explorer</a:t>
            </a:r>
            <a:endParaRPr lang="ko-KR" altLang="en-US" sz="1300" dirty="0">
              <a:solidFill>
                <a:srgbClr val="25B189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A4D3A67E-204B-44BA-989B-86AE7284C52B}"/>
              </a:ext>
            </a:extLst>
          </p:cNvPr>
          <p:cNvSpPr/>
          <p:nvPr/>
        </p:nvSpPr>
        <p:spPr>
          <a:xfrm>
            <a:off x="3578108" y="6475887"/>
            <a:ext cx="288000" cy="28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25B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7967604-1C47-4DC6-9866-87C0837D40E7}"/>
              </a:ext>
            </a:extLst>
          </p:cNvPr>
          <p:cNvSpPr txBox="1"/>
          <p:nvPr/>
        </p:nvSpPr>
        <p:spPr>
          <a:xfrm>
            <a:off x="3894667" y="6957950"/>
            <a:ext cx="2556000" cy="72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AAD8836-3888-4E8F-B707-D615495E955D}"/>
              </a:ext>
            </a:extLst>
          </p:cNvPr>
          <p:cNvSpPr txBox="1"/>
          <p:nvPr/>
        </p:nvSpPr>
        <p:spPr>
          <a:xfrm>
            <a:off x="3894667" y="6957950"/>
            <a:ext cx="2556000" cy="650244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There’s no coffee, but I found a cup and a coffee machine in the kitchen.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71309E2-8044-45BE-ACAB-078D7E480781}"/>
              </a:ext>
            </a:extLst>
          </p:cNvPr>
          <p:cNvSpPr txBox="1"/>
          <p:nvPr/>
        </p:nvSpPr>
        <p:spPr>
          <a:xfrm>
            <a:off x="3990036" y="7428779"/>
            <a:ext cx="1404000" cy="179415"/>
          </a:xfrm>
          <a:prstGeom prst="roundRect">
            <a:avLst>
              <a:gd name="adj" fmla="val 25487"/>
            </a:avLst>
          </a:prstGeom>
          <a:solidFill>
            <a:srgbClr val="EBF5F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487C1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@ Flow Orchestrator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493E066-565F-4213-99C3-AE57E3F85816}"/>
              </a:ext>
            </a:extLst>
          </p:cNvPr>
          <p:cNvSpPr txBox="1"/>
          <p:nvPr/>
        </p:nvSpPr>
        <p:spPr>
          <a:xfrm>
            <a:off x="3894666" y="6696285"/>
            <a:ext cx="1872000" cy="216000"/>
          </a:xfrm>
          <a:prstGeom prst="roundRect">
            <a:avLst>
              <a:gd name="adj" fmla="val 24182"/>
            </a:avLst>
          </a:prstGeom>
          <a:solidFill>
            <a:srgbClr val="FFF9E5"/>
          </a:solidFill>
          <a:ln>
            <a:noFill/>
          </a:ln>
        </p:spPr>
        <p:txBody>
          <a:bodyPr wrap="square" lIns="21600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discovered objects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0737D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(edited)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70737D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8023F3A-2213-4531-9544-59B8A38F8F98}"/>
              </a:ext>
            </a:extLst>
          </p:cNvPr>
          <p:cNvSpPr txBox="1"/>
          <p:nvPr/>
        </p:nvSpPr>
        <p:spPr>
          <a:xfrm rot="5400000">
            <a:off x="4721676" y="6066382"/>
            <a:ext cx="18197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404756"/>
                </a:solidFill>
                <a:latin typeface="프리젠테이션 6 SemiBold" pitchFamily="2" charset="-127"/>
                <a:ea typeface="프리젠테이션 6 SemiBold" pitchFamily="2" charset="-127"/>
              </a:rPr>
              <a:t>…</a:t>
            </a:r>
            <a:endParaRPr lang="ko-KR" altLang="en-US" sz="1600" dirty="0">
              <a:solidFill>
                <a:srgbClr val="404756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7D2B4947-32CB-47E5-986F-4372CA0A0A7C}"/>
              </a:ext>
            </a:extLst>
          </p:cNvPr>
          <p:cNvCxnSpPr>
            <a:cxnSpLocks/>
          </p:cNvCxnSpPr>
          <p:nvPr/>
        </p:nvCxnSpPr>
        <p:spPr>
          <a:xfrm>
            <a:off x="5281811" y="3450676"/>
            <a:ext cx="0" cy="1867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2F6EA278-1DFF-4990-B896-D995711E1A72}"/>
              </a:ext>
            </a:extLst>
          </p:cNvPr>
          <p:cNvCxnSpPr>
            <a:cxnSpLocks/>
          </p:cNvCxnSpPr>
          <p:nvPr/>
        </p:nvCxnSpPr>
        <p:spPr>
          <a:xfrm>
            <a:off x="8411768" y="3450676"/>
            <a:ext cx="0" cy="1867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>
            <a:extLst>
              <a:ext uri="{FF2B5EF4-FFF2-40B4-BE49-F238E27FC236}">
                <a16:creationId xmlns:a16="http://schemas.microsoft.com/office/drawing/2014/main" id="{7DC0C1B2-0662-48DA-8F07-AEEED992FBFC}"/>
              </a:ext>
            </a:extLst>
          </p:cNvPr>
          <p:cNvCxnSpPr>
            <a:cxnSpLocks/>
          </p:cNvCxnSpPr>
          <p:nvPr/>
        </p:nvCxnSpPr>
        <p:spPr>
          <a:xfrm>
            <a:off x="11114687" y="3450676"/>
            <a:ext cx="0" cy="18673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12E9EB1B-FC7B-4940-9EEF-F1E02DB07278}"/>
              </a:ext>
            </a:extLst>
          </p:cNvPr>
          <p:cNvSpPr txBox="1"/>
          <p:nvPr/>
        </p:nvSpPr>
        <p:spPr>
          <a:xfrm>
            <a:off x="11287246" y="3637413"/>
            <a:ext cx="1440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srgbClr val="F24158"/>
                </a:solidFill>
                <a:latin typeface="프리젠테이션 7 Bold" pitchFamily="2" charset="-127"/>
                <a:ea typeface="프리젠테이션 7 Bold" pitchFamily="2" charset="-127"/>
              </a:rPr>
              <a:t>Task Formalizer</a:t>
            </a:r>
            <a:endParaRPr lang="ko-KR" altLang="en-US" sz="1300" dirty="0">
              <a:solidFill>
                <a:srgbClr val="F24158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DAF28AAE-32C8-4700-A21F-7C0AA0C24FF0}"/>
              </a:ext>
            </a:extLst>
          </p:cNvPr>
          <p:cNvSpPr/>
          <p:nvPr/>
        </p:nvSpPr>
        <p:spPr>
          <a:xfrm>
            <a:off x="10970687" y="3637413"/>
            <a:ext cx="288000" cy="28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F241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B321A22-BBEC-43F5-8A7D-FF6B801F57E8}"/>
              </a:ext>
            </a:extLst>
          </p:cNvPr>
          <p:cNvSpPr txBox="1"/>
          <p:nvPr/>
        </p:nvSpPr>
        <p:spPr>
          <a:xfrm>
            <a:off x="11287246" y="4617951"/>
            <a:ext cx="3240000" cy="50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F0AAA37-8FC2-46E0-B12F-B196CADD927E}"/>
              </a:ext>
            </a:extLst>
          </p:cNvPr>
          <p:cNvSpPr txBox="1"/>
          <p:nvPr/>
        </p:nvSpPr>
        <p:spPr>
          <a:xfrm>
            <a:off x="11287246" y="4617951"/>
            <a:ext cx="3240000" cy="443858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I’ve translated the task into formal constraints.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7BCC83C-8654-4BFF-BE1A-A2F7E42A11B6}"/>
              </a:ext>
            </a:extLst>
          </p:cNvPr>
          <p:cNvSpPr txBox="1"/>
          <p:nvPr/>
        </p:nvSpPr>
        <p:spPr>
          <a:xfrm>
            <a:off x="11371020" y="4892743"/>
            <a:ext cx="1440000" cy="179415"/>
          </a:xfrm>
          <a:prstGeom prst="roundRect">
            <a:avLst>
              <a:gd name="adj" fmla="val 25487"/>
            </a:avLst>
          </a:prstGeom>
          <a:solidFill>
            <a:srgbClr val="EBF5F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487C1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@ Planning Manager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487C1"/>
              </a:solidFill>
              <a:effectLst/>
              <a:uLnTx/>
              <a:uFillTx/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D2E0FFE2-A033-4465-B9BE-823985F9F6F5}"/>
              </a:ext>
            </a:extLst>
          </p:cNvPr>
          <p:cNvSpPr txBox="1"/>
          <p:nvPr/>
        </p:nvSpPr>
        <p:spPr>
          <a:xfrm>
            <a:off x="11287247" y="3867994"/>
            <a:ext cx="1727905" cy="216000"/>
          </a:xfrm>
          <a:prstGeom prst="roundRect">
            <a:avLst>
              <a:gd name="adj" fmla="val 24182"/>
            </a:avLst>
          </a:prstGeom>
          <a:solidFill>
            <a:srgbClr val="FFF9E5"/>
          </a:solidFill>
          <a:ln>
            <a:noFill/>
          </a:ln>
        </p:spPr>
        <p:txBody>
          <a:bodyPr wrap="square" lIns="21600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at-end condition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0737D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(edited)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70737D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649F713-665A-46AD-927F-D5AF2BF27AAC}"/>
              </a:ext>
            </a:extLst>
          </p:cNvPr>
          <p:cNvSpPr txBox="1"/>
          <p:nvPr/>
        </p:nvSpPr>
        <p:spPr>
          <a:xfrm>
            <a:off x="11287246" y="4106268"/>
            <a:ext cx="1800000" cy="216000"/>
          </a:xfrm>
          <a:prstGeom prst="roundRect">
            <a:avLst>
              <a:gd name="adj" fmla="val 24182"/>
            </a:avLst>
          </a:prstGeom>
          <a:solidFill>
            <a:srgbClr val="FFF9E5"/>
          </a:solidFill>
          <a:ln>
            <a:noFill/>
          </a:ln>
        </p:spPr>
        <p:txBody>
          <a:bodyPr wrap="square" lIns="21600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always conditions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0737D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(edited)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70737D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D7CF7F0-EF82-4D3A-B9A6-57C264624BEC}"/>
              </a:ext>
            </a:extLst>
          </p:cNvPr>
          <p:cNvSpPr txBox="1"/>
          <p:nvPr/>
        </p:nvSpPr>
        <p:spPr>
          <a:xfrm>
            <a:off x="11287246" y="4344543"/>
            <a:ext cx="2016000" cy="216000"/>
          </a:xfrm>
          <a:prstGeom prst="roundRect">
            <a:avLst>
              <a:gd name="adj" fmla="val 24182"/>
            </a:avLst>
          </a:prstGeom>
          <a:solidFill>
            <a:srgbClr val="FFF9E5"/>
          </a:solidFill>
          <a:ln>
            <a:noFill/>
          </a:ln>
        </p:spPr>
        <p:txBody>
          <a:bodyPr wrap="square" lIns="21600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sometime conditions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0737D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(edited)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70737D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A310912-8B29-48B1-B5E6-11CB4C5DC503}"/>
              </a:ext>
            </a:extLst>
          </p:cNvPr>
          <p:cNvSpPr txBox="1"/>
          <p:nvPr/>
        </p:nvSpPr>
        <p:spPr>
          <a:xfrm>
            <a:off x="11755149" y="5451916"/>
            <a:ext cx="1440000" cy="218231"/>
          </a:xfrm>
          <a:prstGeom prst="rect">
            <a:avLst/>
          </a:prstGeom>
          <a:noFill/>
        </p:spPr>
        <p:txBody>
          <a:bodyPr wrap="square" lIns="36000" tIns="0" rIns="0" bIns="1800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srgbClr val="FFA500"/>
                </a:solidFill>
                <a:latin typeface="프리젠테이션 7 Bold" pitchFamily="2" charset="-127"/>
                <a:ea typeface="프리젠테이션 7 Bold" pitchFamily="2" charset="-127"/>
              </a:rPr>
              <a:t>Planning Manager</a:t>
            </a:r>
            <a:endParaRPr lang="ko-KR" altLang="en-US" sz="1300" dirty="0">
              <a:solidFill>
                <a:srgbClr val="FFA500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CE4CE41A-E027-4489-9022-30F4110BF466}"/>
              </a:ext>
            </a:extLst>
          </p:cNvPr>
          <p:cNvSpPr/>
          <p:nvPr/>
        </p:nvSpPr>
        <p:spPr>
          <a:xfrm>
            <a:off x="11438590" y="5451916"/>
            <a:ext cx="288000" cy="288000"/>
          </a:xfrm>
          <a:prstGeom prst="ellipse">
            <a:avLst/>
          </a:prstGeom>
          <a:solidFill>
            <a:schemeClr val="bg1"/>
          </a:solidFill>
          <a:ln w="12700">
            <a:solidFill>
              <a:srgbClr val="FFA5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875D503-03F6-4D28-AD8A-902AAA12C3EE}"/>
              </a:ext>
            </a:extLst>
          </p:cNvPr>
          <p:cNvSpPr txBox="1"/>
          <p:nvPr/>
        </p:nvSpPr>
        <p:spPr>
          <a:xfrm>
            <a:off x="11755149" y="5665374"/>
            <a:ext cx="2772000" cy="68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36000" rIns="72000" bIns="3600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6F517354-F5C9-42BD-8037-13B8020EC091}"/>
              </a:ext>
            </a:extLst>
          </p:cNvPr>
          <p:cNvSpPr txBox="1"/>
          <p:nvPr/>
        </p:nvSpPr>
        <p:spPr>
          <a:xfrm>
            <a:off x="11755149" y="5665374"/>
            <a:ext cx="2772000" cy="650244"/>
          </a:xfrm>
          <a:prstGeom prst="rect">
            <a:avLst/>
          </a:prstGeom>
          <a:noFill/>
          <a:ln>
            <a:noFill/>
          </a:ln>
        </p:spPr>
        <p:txBody>
          <a:bodyPr wrap="square" lIns="126000" tIns="72000" rIns="126000" bIns="0" rtlCol="0" anchor="t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I’ve prepared the subgoals. I’ll now use the 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PDDL Plan tool</a:t>
            </a:r>
            <a:r>
              <a:rPr lang="en-US" altLang="ko-KR" sz="1200" kern="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 to generate a plan.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43919DC-2CF1-4211-83C4-4675AB9699C3}"/>
              </a:ext>
            </a:extLst>
          </p:cNvPr>
          <p:cNvSpPr txBox="1"/>
          <p:nvPr/>
        </p:nvSpPr>
        <p:spPr>
          <a:xfrm>
            <a:off x="11865082" y="6135618"/>
            <a:ext cx="792000" cy="180000"/>
          </a:xfrm>
          <a:prstGeom prst="roundRect">
            <a:avLst>
              <a:gd name="adj" fmla="val 28574"/>
            </a:avLst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-150" dirty="0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/</a:t>
            </a:r>
            <a:r>
              <a:rPr lang="en-US" altLang="ko-KR" sz="1200" kern="0" spc="-150" dirty="0" err="1">
                <a:solidFill>
                  <a:srgbClr val="404756"/>
                </a:solidFill>
                <a:latin typeface="Cascadia Code SemiLight" panose="020B0609020000020004" pitchFamily="49" charset="0"/>
                <a:ea typeface="프리젠테이션 5 Medium" pitchFamily="2" charset="-127"/>
                <a:cs typeface="Cascadia Code SemiLight" panose="020B0609020000020004" pitchFamily="49" charset="0"/>
              </a:rPr>
              <a:t>pddl_plan</a:t>
            </a:r>
            <a:endParaRPr lang="en-US" altLang="ko-KR" sz="1200" kern="0" spc="-150" dirty="0">
              <a:solidFill>
                <a:srgbClr val="404756"/>
              </a:solidFill>
              <a:latin typeface="Cascadia Code SemiLight" panose="020B0609020000020004" pitchFamily="49" charset="0"/>
              <a:ea typeface="프리젠테이션 5 Medium" pitchFamily="2" charset="-127"/>
              <a:cs typeface="Cascadia Code SemiLight" panose="020B0609020000020004" pitchFamily="49" charset="0"/>
            </a:endParaRPr>
          </a:p>
        </p:txBody>
      </p:sp>
      <p:cxnSp>
        <p:nvCxnSpPr>
          <p:cNvPr id="294" name="직선 화살표 연결선 293">
            <a:extLst>
              <a:ext uri="{FF2B5EF4-FFF2-40B4-BE49-F238E27FC236}">
                <a16:creationId xmlns:a16="http://schemas.microsoft.com/office/drawing/2014/main" id="{8AEA8E2F-AE55-46EB-A18F-64A17C05AF41}"/>
              </a:ext>
            </a:extLst>
          </p:cNvPr>
          <p:cNvCxnSpPr>
            <a:cxnSpLocks/>
          </p:cNvCxnSpPr>
          <p:nvPr/>
        </p:nvCxnSpPr>
        <p:spPr>
          <a:xfrm>
            <a:off x="7495807" y="5290938"/>
            <a:ext cx="792000" cy="0"/>
          </a:xfrm>
          <a:prstGeom prst="straightConnector1">
            <a:avLst/>
          </a:prstGeom>
          <a:ln w="88900">
            <a:solidFill>
              <a:srgbClr val="D8D8D8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>
            <a:extLst>
              <a:ext uri="{FF2B5EF4-FFF2-40B4-BE49-F238E27FC236}">
                <a16:creationId xmlns:a16="http://schemas.microsoft.com/office/drawing/2014/main" id="{6245C1F7-DB03-4206-8F23-06432891A09C}"/>
              </a:ext>
            </a:extLst>
          </p:cNvPr>
          <p:cNvCxnSpPr>
            <a:cxnSpLocks/>
          </p:cNvCxnSpPr>
          <p:nvPr/>
        </p:nvCxnSpPr>
        <p:spPr>
          <a:xfrm>
            <a:off x="8905477" y="5290938"/>
            <a:ext cx="792910" cy="0"/>
          </a:xfrm>
          <a:prstGeom prst="straightConnector1">
            <a:avLst/>
          </a:prstGeom>
          <a:ln w="88900">
            <a:solidFill>
              <a:srgbClr val="D8D8D8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AE8A2675-D072-4482-A994-52B822308355}"/>
              </a:ext>
            </a:extLst>
          </p:cNvPr>
          <p:cNvSpPr txBox="1"/>
          <p:nvPr/>
        </p:nvSpPr>
        <p:spPr>
          <a:xfrm>
            <a:off x="8292675" y="4984938"/>
            <a:ext cx="612000" cy="612000"/>
          </a:xfrm>
          <a:prstGeom prst="roundRect">
            <a:avLst>
              <a:gd name="adj" fmla="val 1246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329" name="연결선: 꺾임 328">
            <a:extLst>
              <a:ext uri="{FF2B5EF4-FFF2-40B4-BE49-F238E27FC236}">
                <a16:creationId xmlns:a16="http://schemas.microsoft.com/office/drawing/2014/main" id="{F3D3F4A9-AC4B-4070-9614-01959EF4205E}"/>
              </a:ext>
            </a:extLst>
          </p:cNvPr>
          <p:cNvCxnSpPr>
            <a:cxnSpLocks/>
            <a:stCxn id="218" idx="1"/>
            <a:endCxn id="258" idx="2"/>
          </p:cNvCxnSpPr>
          <p:nvPr/>
        </p:nvCxnSpPr>
        <p:spPr>
          <a:xfrm rot="10800000">
            <a:off x="10220388" y="5434200"/>
            <a:ext cx="1644695" cy="791419"/>
          </a:xfrm>
          <a:prstGeom prst="bentConnector2">
            <a:avLst/>
          </a:prstGeom>
          <a:ln w="73025">
            <a:solidFill>
              <a:srgbClr val="7F7F7F">
                <a:alpha val="30000"/>
              </a:srgbClr>
            </a:solidFill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연결선: 꺾임 334">
            <a:extLst>
              <a:ext uri="{FF2B5EF4-FFF2-40B4-BE49-F238E27FC236}">
                <a16:creationId xmlns:a16="http://schemas.microsoft.com/office/drawing/2014/main" id="{D898076F-25D3-437B-B67D-24F5F8A8DA2F}"/>
              </a:ext>
            </a:extLst>
          </p:cNvPr>
          <p:cNvCxnSpPr>
            <a:stCxn id="166" idx="3"/>
            <a:endCxn id="257" idx="2"/>
          </p:cNvCxnSpPr>
          <p:nvPr/>
        </p:nvCxnSpPr>
        <p:spPr>
          <a:xfrm flipV="1">
            <a:off x="4951618" y="5434199"/>
            <a:ext cx="1950189" cy="391348"/>
          </a:xfrm>
          <a:prstGeom prst="bentConnector2">
            <a:avLst/>
          </a:prstGeom>
          <a:ln w="73025">
            <a:solidFill>
              <a:srgbClr val="7F7F7F">
                <a:alpha val="30000"/>
              </a:srgbClr>
            </a:solidFill>
            <a:prstDash val="solid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D0FD40AC-FD5A-4C16-A709-E110318018D8}"/>
              </a:ext>
            </a:extLst>
          </p:cNvPr>
          <p:cNvSpPr txBox="1"/>
          <p:nvPr/>
        </p:nvSpPr>
        <p:spPr>
          <a:xfrm>
            <a:off x="6307807" y="5147677"/>
            <a:ext cx="1188000" cy="286522"/>
          </a:xfrm>
          <a:prstGeom prst="rect">
            <a:avLst/>
          </a:prstGeom>
          <a:solidFill>
            <a:srgbClr val="F4F4F4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3B5F657-D013-4876-96E3-AA8C2CBC0B7F}"/>
              </a:ext>
            </a:extLst>
          </p:cNvPr>
          <p:cNvSpPr txBox="1"/>
          <p:nvPr/>
        </p:nvSpPr>
        <p:spPr>
          <a:xfrm>
            <a:off x="6568715" y="5190911"/>
            <a:ext cx="900000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Scene query</a:t>
            </a:r>
            <a:endParaRPr lang="ko-KR" altLang="en-US" sz="13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DFAEBD4-C176-4B0D-A281-752FE1509E18}"/>
              </a:ext>
            </a:extLst>
          </p:cNvPr>
          <p:cNvSpPr txBox="1"/>
          <p:nvPr/>
        </p:nvSpPr>
        <p:spPr>
          <a:xfrm>
            <a:off x="9698387" y="5147677"/>
            <a:ext cx="1044000" cy="286522"/>
          </a:xfrm>
          <a:prstGeom prst="rect">
            <a:avLst/>
          </a:prstGeom>
          <a:solidFill>
            <a:srgbClr val="F4F4F4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wrap="square" rtlCol="0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AA89BA7-F87F-4ABC-9A59-E502904AF369}"/>
              </a:ext>
            </a:extLst>
          </p:cNvPr>
          <p:cNvSpPr txBox="1"/>
          <p:nvPr/>
        </p:nvSpPr>
        <p:spPr>
          <a:xfrm>
            <a:off x="9959295" y="5190911"/>
            <a:ext cx="756000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defTabSz="914313" latinLnBrk="1"/>
            <a:r>
              <a:rPr lang="en-US" altLang="ko-KR" sz="1300" dirty="0">
                <a:solidFill>
                  <a:prstClr val="black"/>
                </a:solidFill>
                <a:latin typeface="프리젠테이션 6 SemiBold" pitchFamily="2" charset="-127"/>
                <a:ea typeface="프리젠테이션 6 SemiBold" pitchFamily="2" charset="-127"/>
              </a:rPr>
              <a:t>PDDL plan</a:t>
            </a:r>
            <a:endParaRPr lang="ko-KR" altLang="en-US" sz="1300" dirty="0">
              <a:solidFill>
                <a:prstClr val="black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37" name="타원 336">
            <a:extLst>
              <a:ext uri="{FF2B5EF4-FFF2-40B4-BE49-F238E27FC236}">
                <a16:creationId xmlns:a16="http://schemas.microsoft.com/office/drawing/2014/main" id="{2BD5A85F-59BD-49F4-8550-B378AD14CED3}"/>
              </a:ext>
            </a:extLst>
          </p:cNvPr>
          <p:cNvSpPr/>
          <p:nvPr/>
        </p:nvSpPr>
        <p:spPr>
          <a:xfrm>
            <a:off x="3061763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DD1FA5A9-7B26-4BF2-A6B7-8D047D6C7E7F}"/>
              </a:ext>
            </a:extLst>
          </p:cNvPr>
          <p:cNvSpPr/>
          <p:nvPr/>
        </p:nvSpPr>
        <p:spPr>
          <a:xfrm>
            <a:off x="3686108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CA3D21C9-B459-4060-9BC2-F535C2E26B68}"/>
              </a:ext>
            </a:extLst>
          </p:cNvPr>
          <p:cNvSpPr/>
          <p:nvPr/>
        </p:nvSpPr>
        <p:spPr>
          <a:xfrm>
            <a:off x="5245811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2A1D0941-BB93-4B54-85EE-7A03226E2885}"/>
              </a:ext>
            </a:extLst>
          </p:cNvPr>
          <p:cNvSpPr/>
          <p:nvPr/>
        </p:nvSpPr>
        <p:spPr>
          <a:xfrm>
            <a:off x="6865135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1" name="타원 340">
            <a:extLst>
              <a:ext uri="{FF2B5EF4-FFF2-40B4-BE49-F238E27FC236}">
                <a16:creationId xmlns:a16="http://schemas.microsoft.com/office/drawing/2014/main" id="{E604FCC3-4CDB-481A-929C-0BCAF58DE697}"/>
              </a:ext>
            </a:extLst>
          </p:cNvPr>
          <p:cNvSpPr/>
          <p:nvPr/>
        </p:nvSpPr>
        <p:spPr>
          <a:xfrm>
            <a:off x="8375768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2" name="타원 341">
            <a:extLst>
              <a:ext uri="{FF2B5EF4-FFF2-40B4-BE49-F238E27FC236}">
                <a16:creationId xmlns:a16="http://schemas.microsoft.com/office/drawing/2014/main" id="{D10FF316-2D0E-4CD2-82D7-216298C758D1}"/>
              </a:ext>
            </a:extLst>
          </p:cNvPr>
          <p:cNvSpPr/>
          <p:nvPr/>
        </p:nvSpPr>
        <p:spPr>
          <a:xfrm>
            <a:off x="11078687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3" name="타원 342">
            <a:extLst>
              <a:ext uri="{FF2B5EF4-FFF2-40B4-BE49-F238E27FC236}">
                <a16:creationId xmlns:a16="http://schemas.microsoft.com/office/drawing/2014/main" id="{07E58A8B-3762-4C37-88E2-A36CD5FA43B0}"/>
              </a:ext>
            </a:extLst>
          </p:cNvPr>
          <p:cNvSpPr/>
          <p:nvPr/>
        </p:nvSpPr>
        <p:spPr>
          <a:xfrm>
            <a:off x="11546590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4" name="타원 343">
            <a:extLst>
              <a:ext uri="{FF2B5EF4-FFF2-40B4-BE49-F238E27FC236}">
                <a16:creationId xmlns:a16="http://schemas.microsoft.com/office/drawing/2014/main" id="{D3C57E95-1DA0-4A5A-81DB-CB02E2D75672}"/>
              </a:ext>
            </a:extLst>
          </p:cNvPr>
          <p:cNvSpPr/>
          <p:nvPr/>
        </p:nvSpPr>
        <p:spPr>
          <a:xfrm>
            <a:off x="12576194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0" name="그래픽 349">
            <a:extLst>
              <a:ext uri="{FF2B5EF4-FFF2-40B4-BE49-F238E27FC236}">
                <a16:creationId xmlns:a16="http://schemas.microsoft.com/office/drawing/2014/main" id="{504B6117-9AA4-4337-B882-A1154F0B1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8780" y="3875811"/>
            <a:ext cx="180000" cy="180000"/>
          </a:xfrm>
          <a:prstGeom prst="rect">
            <a:avLst/>
          </a:prstGeom>
        </p:spPr>
      </p:pic>
      <p:pic>
        <p:nvPicPr>
          <p:cNvPr id="351" name="그래픽 350">
            <a:extLst>
              <a:ext uri="{FF2B5EF4-FFF2-40B4-BE49-F238E27FC236}">
                <a16:creationId xmlns:a16="http://schemas.microsoft.com/office/drawing/2014/main" id="{55BC04BD-30F2-4539-97E5-BEF6FB220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2408" y="3875811"/>
            <a:ext cx="180000" cy="180000"/>
          </a:xfrm>
          <a:prstGeom prst="rect">
            <a:avLst/>
          </a:prstGeom>
        </p:spPr>
      </p:pic>
      <p:pic>
        <p:nvPicPr>
          <p:cNvPr id="352" name="그래픽 351">
            <a:extLst>
              <a:ext uri="{FF2B5EF4-FFF2-40B4-BE49-F238E27FC236}">
                <a16:creationId xmlns:a16="http://schemas.microsoft.com/office/drawing/2014/main" id="{63B99DB6-E393-4352-B452-6238FF8CD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4247" y="3885994"/>
            <a:ext cx="180000" cy="180000"/>
          </a:xfrm>
          <a:prstGeom prst="rect">
            <a:avLst/>
          </a:prstGeom>
        </p:spPr>
      </p:pic>
      <p:pic>
        <p:nvPicPr>
          <p:cNvPr id="353" name="그래픽 352">
            <a:extLst>
              <a:ext uri="{FF2B5EF4-FFF2-40B4-BE49-F238E27FC236}">
                <a16:creationId xmlns:a16="http://schemas.microsoft.com/office/drawing/2014/main" id="{7036D963-12D8-4260-842B-3606D9886D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4247" y="4124268"/>
            <a:ext cx="180000" cy="180000"/>
          </a:xfrm>
          <a:prstGeom prst="rect">
            <a:avLst/>
          </a:prstGeom>
        </p:spPr>
      </p:pic>
      <p:pic>
        <p:nvPicPr>
          <p:cNvPr id="354" name="그래픽 353">
            <a:extLst>
              <a:ext uri="{FF2B5EF4-FFF2-40B4-BE49-F238E27FC236}">
                <a16:creationId xmlns:a16="http://schemas.microsoft.com/office/drawing/2014/main" id="{2A4E270E-E86B-468F-A287-558FE76D31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14247" y="4362543"/>
            <a:ext cx="180000" cy="180000"/>
          </a:xfrm>
          <a:prstGeom prst="rect">
            <a:avLst/>
          </a:prstGeom>
        </p:spPr>
      </p:pic>
      <p:pic>
        <p:nvPicPr>
          <p:cNvPr id="357" name="그래픽 356">
            <a:extLst>
              <a:ext uri="{FF2B5EF4-FFF2-40B4-BE49-F238E27FC236}">
                <a16:creationId xmlns:a16="http://schemas.microsoft.com/office/drawing/2014/main" id="{D594FC18-E8E7-4598-87E1-AF73D94F8C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53313" y="2734673"/>
            <a:ext cx="252000" cy="252000"/>
          </a:xfrm>
          <a:prstGeom prst="rect">
            <a:avLst/>
          </a:prstGeom>
        </p:spPr>
      </p:pic>
      <p:pic>
        <p:nvPicPr>
          <p:cNvPr id="358" name="그래픽 357">
            <a:extLst>
              <a:ext uri="{FF2B5EF4-FFF2-40B4-BE49-F238E27FC236}">
                <a16:creationId xmlns:a16="http://schemas.microsoft.com/office/drawing/2014/main" id="{49AB3EEC-2883-4A24-97BC-913CD13DC1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5135" y="2734673"/>
            <a:ext cx="252000" cy="252000"/>
          </a:xfrm>
          <a:prstGeom prst="rect">
            <a:avLst/>
          </a:prstGeom>
        </p:spPr>
      </p:pic>
      <p:pic>
        <p:nvPicPr>
          <p:cNvPr id="359" name="그래픽 358">
            <a:extLst>
              <a:ext uri="{FF2B5EF4-FFF2-40B4-BE49-F238E27FC236}">
                <a16:creationId xmlns:a16="http://schemas.microsoft.com/office/drawing/2014/main" id="{1112746E-6F86-4AC6-AD4D-DBAEF84665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86194" y="2737197"/>
            <a:ext cx="252000" cy="252000"/>
          </a:xfrm>
          <a:prstGeom prst="rect">
            <a:avLst/>
          </a:prstGeom>
        </p:spPr>
      </p:pic>
      <p:pic>
        <p:nvPicPr>
          <p:cNvPr id="361" name="그래픽 360">
            <a:extLst>
              <a:ext uri="{FF2B5EF4-FFF2-40B4-BE49-F238E27FC236}">
                <a16:creationId xmlns:a16="http://schemas.microsoft.com/office/drawing/2014/main" id="{ABAC2F6F-A99B-469E-9839-C45A495C49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19038" y="3335368"/>
            <a:ext cx="234000" cy="234000"/>
          </a:xfrm>
          <a:prstGeom prst="rect">
            <a:avLst/>
          </a:prstGeom>
        </p:spPr>
      </p:pic>
      <p:sp>
        <p:nvSpPr>
          <p:cNvPr id="364" name="타원 363">
            <a:extLst>
              <a:ext uri="{FF2B5EF4-FFF2-40B4-BE49-F238E27FC236}">
                <a16:creationId xmlns:a16="http://schemas.microsoft.com/office/drawing/2014/main" id="{3448A542-32EB-4F5E-B181-617434A042F3}"/>
              </a:ext>
            </a:extLst>
          </p:cNvPr>
          <p:cNvSpPr/>
          <p:nvPr/>
        </p:nvSpPr>
        <p:spPr>
          <a:xfrm>
            <a:off x="7596152" y="6739426"/>
            <a:ext cx="288000" cy="2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5" name="그래픽 364">
            <a:extLst>
              <a:ext uri="{FF2B5EF4-FFF2-40B4-BE49-F238E27FC236}">
                <a16:creationId xmlns:a16="http://schemas.microsoft.com/office/drawing/2014/main" id="{8188ABD1-8CCF-434E-9901-6589F346E2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3152" y="6766426"/>
            <a:ext cx="234000" cy="234000"/>
          </a:xfrm>
          <a:prstGeom prst="rect">
            <a:avLst/>
          </a:prstGeom>
        </p:spPr>
      </p:pic>
      <p:pic>
        <p:nvPicPr>
          <p:cNvPr id="367" name="그래픽 366">
            <a:extLst>
              <a:ext uri="{FF2B5EF4-FFF2-40B4-BE49-F238E27FC236}">
                <a16:creationId xmlns:a16="http://schemas.microsoft.com/office/drawing/2014/main" id="{D0CB7D0A-AC8C-4A3B-BC87-EAD513C7C5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971763" y="3661875"/>
            <a:ext cx="252000" cy="239076"/>
          </a:xfrm>
          <a:prstGeom prst="rect">
            <a:avLst/>
          </a:prstGeom>
        </p:spPr>
      </p:pic>
      <p:pic>
        <p:nvPicPr>
          <p:cNvPr id="368" name="그래픽 367">
            <a:extLst>
              <a:ext uri="{FF2B5EF4-FFF2-40B4-BE49-F238E27FC236}">
                <a16:creationId xmlns:a16="http://schemas.microsoft.com/office/drawing/2014/main" id="{18776601-0E56-401C-AC30-DAA0FE089F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155811" y="3661875"/>
            <a:ext cx="252000" cy="239076"/>
          </a:xfrm>
          <a:prstGeom prst="rect">
            <a:avLst/>
          </a:prstGeom>
        </p:spPr>
      </p:pic>
      <p:pic>
        <p:nvPicPr>
          <p:cNvPr id="369" name="그래픽 368">
            <a:extLst>
              <a:ext uri="{FF2B5EF4-FFF2-40B4-BE49-F238E27FC236}">
                <a16:creationId xmlns:a16="http://schemas.microsoft.com/office/drawing/2014/main" id="{7E1183CD-C3BE-4322-91EB-2D221FAD34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285768" y="3661875"/>
            <a:ext cx="252000" cy="239076"/>
          </a:xfrm>
          <a:prstGeom prst="rect">
            <a:avLst/>
          </a:prstGeom>
        </p:spPr>
      </p:pic>
      <p:pic>
        <p:nvPicPr>
          <p:cNvPr id="371" name="그래픽 370">
            <a:extLst>
              <a:ext uri="{FF2B5EF4-FFF2-40B4-BE49-F238E27FC236}">
                <a16:creationId xmlns:a16="http://schemas.microsoft.com/office/drawing/2014/main" id="{71A9E88E-72D2-4171-A19A-CC8AA66D0B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88687" y="3661875"/>
            <a:ext cx="252000" cy="239077"/>
          </a:xfrm>
          <a:prstGeom prst="rect">
            <a:avLst/>
          </a:prstGeom>
        </p:spPr>
      </p:pic>
      <p:pic>
        <p:nvPicPr>
          <p:cNvPr id="373" name="그래픽 372">
            <a:extLst>
              <a:ext uri="{FF2B5EF4-FFF2-40B4-BE49-F238E27FC236}">
                <a16:creationId xmlns:a16="http://schemas.microsoft.com/office/drawing/2014/main" id="{7A355F7B-369B-473C-AD91-CBB00E23EC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3596108" y="5071692"/>
            <a:ext cx="252000" cy="239076"/>
          </a:xfrm>
          <a:prstGeom prst="rect">
            <a:avLst/>
          </a:prstGeom>
        </p:spPr>
      </p:pic>
      <p:pic>
        <p:nvPicPr>
          <p:cNvPr id="374" name="그래픽 373">
            <a:extLst>
              <a:ext uri="{FF2B5EF4-FFF2-40B4-BE49-F238E27FC236}">
                <a16:creationId xmlns:a16="http://schemas.microsoft.com/office/drawing/2014/main" id="{7BBCC861-7237-41C1-BE52-828DEF1726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3596108" y="6500349"/>
            <a:ext cx="252000" cy="239076"/>
          </a:xfrm>
          <a:prstGeom prst="rect">
            <a:avLst/>
          </a:prstGeom>
        </p:spPr>
      </p:pic>
      <p:pic>
        <p:nvPicPr>
          <p:cNvPr id="376" name="그래픽 375">
            <a:extLst>
              <a:ext uri="{FF2B5EF4-FFF2-40B4-BE49-F238E27FC236}">
                <a16:creationId xmlns:a16="http://schemas.microsoft.com/office/drawing/2014/main" id="{341F99AE-4F90-4B88-AFB2-8E3DA75B0B9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56590" y="5476378"/>
            <a:ext cx="252000" cy="239077"/>
          </a:xfrm>
          <a:prstGeom prst="rect">
            <a:avLst/>
          </a:prstGeom>
        </p:spPr>
      </p:pic>
      <p:pic>
        <p:nvPicPr>
          <p:cNvPr id="377" name="그래픽 376">
            <a:extLst>
              <a:ext uri="{FF2B5EF4-FFF2-40B4-BE49-F238E27FC236}">
                <a16:creationId xmlns:a16="http://schemas.microsoft.com/office/drawing/2014/main" id="{2741FCAC-2DCD-4245-A43A-485733C6C7B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56590" y="6732418"/>
            <a:ext cx="252000" cy="239077"/>
          </a:xfrm>
          <a:prstGeom prst="rect">
            <a:avLst/>
          </a:prstGeom>
        </p:spPr>
      </p:pic>
      <p:pic>
        <p:nvPicPr>
          <p:cNvPr id="379" name="그래픽 378">
            <a:extLst>
              <a:ext uri="{FF2B5EF4-FFF2-40B4-BE49-F238E27FC236}">
                <a16:creationId xmlns:a16="http://schemas.microsoft.com/office/drawing/2014/main" id="{4A7B89A0-A32C-4302-B5FC-19E54CDE1D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738176" y="5200938"/>
            <a:ext cx="180000" cy="180000"/>
          </a:xfrm>
          <a:prstGeom prst="rect">
            <a:avLst/>
          </a:prstGeom>
        </p:spPr>
      </p:pic>
      <p:pic>
        <p:nvPicPr>
          <p:cNvPr id="380" name="그래픽 379">
            <a:extLst>
              <a:ext uri="{FF2B5EF4-FFF2-40B4-BE49-F238E27FC236}">
                <a16:creationId xmlns:a16="http://schemas.microsoft.com/office/drawing/2014/main" id="{93A243C3-C677-4F40-8B73-02524A96EBA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52716" y="5200938"/>
            <a:ext cx="180000" cy="180000"/>
          </a:xfrm>
          <a:prstGeom prst="rect">
            <a:avLst/>
          </a:prstGeom>
        </p:spPr>
      </p:pic>
      <p:pic>
        <p:nvPicPr>
          <p:cNvPr id="384" name="그래픽 383">
            <a:extLst>
              <a:ext uri="{FF2B5EF4-FFF2-40B4-BE49-F238E27FC236}">
                <a16:creationId xmlns:a16="http://schemas.microsoft.com/office/drawing/2014/main" id="{0C1C5CA8-849F-429C-9148-CE79AC841FF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8309092" y="5002938"/>
            <a:ext cx="579167" cy="575999"/>
          </a:xfrm>
          <a:prstGeom prst="rect">
            <a:avLst/>
          </a:prstGeom>
        </p:spPr>
      </p:pic>
      <p:pic>
        <p:nvPicPr>
          <p:cNvPr id="392" name="그래픽 391">
            <a:extLst>
              <a:ext uri="{FF2B5EF4-FFF2-40B4-BE49-F238E27FC236}">
                <a16:creationId xmlns:a16="http://schemas.microsoft.com/office/drawing/2014/main" id="{BE22C17E-957D-4669-B746-BA79E339B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3061" y="6714285"/>
            <a:ext cx="180000" cy="180000"/>
          </a:xfrm>
          <a:prstGeom prst="rect">
            <a:avLst/>
          </a:prstGeom>
        </p:spPr>
      </p:pic>
      <p:sp>
        <p:nvSpPr>
          <p:cNvPr id="146" name="타원 145">
            <a:extLst>
              <a:ext uri="{FF2B5EF4-FFF2-40B4-BE49-F238E27FC236}">
                <a16:creationId xmlns:a16="http://schemas.microsoft.com/office/drawing/2014/main" id="{F76165C7-14F0-4123-99B3-5038EB43052A}"/>
              </a:ext>
            </a:extLst>
          </p:cNvPr>
          <p:cNvSpPr/>
          <p:nvPr/>
        </p:nvSpPr>
        <p:spPr>
          <a:xfrm>
            <a:off x="2743313" y="341636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EF3B667-8648-4589-902B-8D24E5D30396}"/>
              </a:ext>
            </a:extLst>
          </p:cNvPr>
          <p:cNvSpPr txBox="1"/>
          <p:nvPr/>
        </p:nvSpPr>
        <p:spPr>
          <a:xfrm>
            <a:off x="11755149" y="6929526"/>
            <a:ext cx="1296000" cy="216000"/>
          </a:xfrm>
          <a:prstGeom prst="roundRect">
            <a:avLst>
              <a:gd name="adj" fmla="val 24182"/>
            </a:avLst>
          </a:prstGeom>
          <a:solidFill>
            <a:srgbClr val="FFF9E5"/>
          </a:solidFill>
          <a:ln>
            <a:noFill/>
          </a:ln>
        </p:spPr>
        <p:txBody>
          <a:bodyPr wrap="square" lIns="216000" tIns="0" rIns="0" bIns="0" rtlCol="0" anchor="ctr">
            <a:noAutofit/>
          </a:bodyPr>
          <a:lstStyle/>
          <a:p>
            <a:pPr marL="0" marR="0" lvl="0" indent="0" defTabSz="914313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6 SemiBold" pitchFamily="2" charset="-127"/>
                <a:ea typeface="프리젠테이션 6 SemiBold" pitchFamily="2" charset="-127"/>
              </a:rPr>
              <a:t>final plan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70737D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(edited)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70737D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24" name="그래픽 123">
            <a:extLst>
              <a:ext uri="{FF2B5EF4-FFF2-40B4-BE49-F238E27FC236}">
                <a16:creationId xmlns:a16="http://schemas.microsoft.com/office/drawing/2014/main" id="{81364451-72F9-4004-92E8-2D72D41547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0590" y="6947526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18285</TotalTime>
  <Words>191</Words>
  <Application>Microsoft Office PowerPoint</Application>
  <PresentationFormat>사용자 지정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맑은 고딕</vt:lpstr>
      <vt:lpstr>프리젠테이션 5 Medium</vt:lpstr>
      <vt:lpstr>프리젠테이션 6 SemiBold</vt:lpstr>
      <vt:lpstr>프리젠테이션 7 Bold</vt:lpstr>
      <vt:lpstr>Arial</vt:lpstr>
      <vt:lpstr>Calibri</vt:lpstr>
      <vt:lpstr>Calibri Light</vt:lpstr>
      <vt:lpstr>Cascadia Code SemiLight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남형우</dc:creator>
  <cp:lastModifiedBy>namh_woo</cp:lastModifiedBy>
  <cp:revision>573</cp:revision>
  <cp:lastPrinted>2026-03-23T10:35:10Z</cp:lastPrinted>
  <dcterms:created xsi:type="dcterms:W3CDTF">2025-12-21T12:06:50Z</dcterms:created>
  <dcterms:modified xsi:type="dcterms:W3CDTF">2026-10-04T07:45:22Z</dcterms:modified>
</cp:coreProperties>
</file>